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23D1856-981E-EE5D-5EBA-12077D1ED5C5}">
          <p14:sldIdLst>
            <p14:sldId id="280"/>
            <p14:sldId id="257"/>
            <p14:sldId id="258"/>
            <p14:sldId id="259"/>
            <p14:sldId id="260"/>
          </p14:sldIdLst>
        </p14:section>
        <p14:section name="Background" id="{CACEEC35-72E7-3805-4C5F-BBE87ABFE67E}">
          <p14:sldIdLst>
            <p14:sldId id="261"/>
            <p14:sldId id="262"/>
            <p14:sldId id="263"/>
          </p14:sldIdLst>
        </p14:section>
        <p14:section name="Design &amp; Implementation" id="{4FE2754C-7BB0-C014-7152-C9B6690AFA77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sults" id="{FF07DE4D-121B-BC03-6E2C-E10AE71B2B08}">
          <p14:sldIdLst>
            <p14:sldId id="271"/>
            <p14:sldId id="272"/>
          </p14:sldIdLst>
        </p14:section>
        <p14:section name="Wrap-up" id="{26677B58-A090-534F-4A2B-6D620ECC9E98}">
          <p14:sldIdLst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258DDC-D61E-4EDE-89AC-B5BB1E69F946}" v="1" dt="2026-10-18T13:51:40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8975" autoAdjust="0"/>
    <p:restoredTop sz="94610"/>
  </p:normalViewPr>
  <p:slideViewPr>
    <p:cSldViewPr snapToGrid="0" snapToObjects="1">
      <p:cViewPr varScale="1">
        <p:scale>
          <a:sx n="31" d="100"/>
          <a:sy n="31" d="100"/>
        </p:scale>
        <p:origin x="48" y="12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H RAJ" userId="16a2741c6a7d5eac" providerId="LiveId" clId="{45BDC134-254E-4451-8E05-38D27B1B6535}"/>
    <pc:docChg chg="modSld">
      <pc:chgData name="MOHITH RAJ" userId="16a2741c6a7d5eac" providerId="LiveId" clId="{45BDC134-254E-4451-8E05-38D27B1B6535}" dt="2026-10-18T13:51:41.469" v="2"/>
      <pc:docMkLst>
        <pc:docMk/>
      </pc:docMkLst>
      <pc:sldChg chg="addSp delSp modSp mod">
        <pc:chgData name="MOHITH RAJ" userId="16a2741c6a7d5eac" providerId="LiveId" clId="{45BDC134-254E-4451-8E05-38D27B1B6535}" dt="2026-10-18T13:51:41.469" v="2"/>
        <pc:sldMkLst>
          <pc:docMk/>
          <pc:sldMk cId="569267901" sldId="280"/>
        </pc:sldMkLst>
        <pc:spChg chg="add del mod">
          <ac:chgData name="MOHITH RAJ" userId="16a2741c6a7d5eac" providerId="LiveId" clId="{45BDC134-254E-4451-8E05-38D27B1B6535}" dt="2026-10-18T13:51:41.469" v="2"/>
          <ac:spMkLst>
            <pc:docMk/>
            <pc:sldMk cId="569267901" sldId="280"/>
            <ac:spMk id="8" creationId="{33E9DD48-AE44-EA02-CA46-1740D4736E3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Monolithic Baseline vs. Proposed MoE Architecture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Monolithic Baseline</c:v>
                </c:pt>
              </c:strCache>
            </c:strRef>
          </c:tx>
          <c:spPr>
            <a:solidFill>
              <a:srgbClr val="9AA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Alphabet Acc (%)</c:v>
                </c:pt>
                <c:pt idx="1">
                  <c:v>Word Acc (%)</c:v>
                </c:pt>
                <c:pt idx="2">
                  <c:v>FPS Throughput</c:v>
                </c:pt>
                <c:pt idx="3">
                  <c:v>Latency Score (%)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71.5</c:v>
                </c:pt>
                <c:pt idx="2">
                  <c:v>14</c:v>
                </c:pt>
                <c:pt idx="3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69-4EFE-9858-CE32F59234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MoE Architecture</c:v>
                </c:pt>
              </c:strCache>
            </c:strRef>
          </c:tx>
          <c:spPr>
            <a:solidFill>
              <a:srgbClr val="0E8C9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Alphabet Acc (%)</c:v>
                </c:pt>
                <c:pt idx="1">
                  <c:v>Word Acc (%)</c:v>
                </c:pt>
                <c:pt idx="2">
                  <c:v>FPS Throughput</c:v>
                </c:pt>
                <c:pt idx="3">
                  <c:v>Latency Score (%)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98.2</c:v>
                </c:pt>
                <c:pt idx="1">
                  <c:v>92.4</c:v>
                </c:pt>
                <c:pt idx="2">
                  <c:v>30</c:v>
                </c:pt>
                <c:pt idx="3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69-4EFE-9858-CE32F59234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42568832"/>
        <c:axId val="142677120"/>
      </c:barChart>
      <c:catAx>
        <c:axId val="1425688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85"/>
                </a:solidFill>
                <a:latin typeface="+mn-lt"/>
              </a:defRPr>
            </a:pPr>
            <a:endParaRPr lang="en-US"/>
          </a:p>
        </c:txPr>
        <c:crossAx val="142677120"/>
        <c:crosses val="autoZero"/>
        <c:auto val="1"/>
        <c:lblAlgn val="ctr"/>
        <c:lblOffset val="100"/>
        <c:noMultiLvlLbl val="1"/>
      </c:catAx>
      <c:valAx>
        <c:axId val="14267712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C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85"/>
                </a:solidFill>
                <a:latin typeface="+mn-lt"/>
              </a:defRPr>
            </a:pPr>
            <a:endParaRPr lang="en-US"/>
          </a:p>
        </c:txPr>
        <c:crossAx val="142568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78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F3D327-862B-4644-A9E9-E355C2132278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644B9-DDA0-4EE9-B6C8-8300DC487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312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guide and project title. Keep this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full presentation. Slide numbers match the footer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roles and guide. Mention project ID / batch number if your college uses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structure of the review in about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30-second elevator pitch. Do not read the abstract word for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clearly, then the objectives. Each objective should map to a result shown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 have studied prior work. Each limitation should lead into your proposed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2–3 key papers or products. End on what is novel in your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what the system does (functional) from how well it does it (non-functional).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development process and why it suited your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data flow left to right. Replace the dashed area with your detailed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4 diagrams most relevant to your project. Explain actors, flows and entities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single most important algorithm or logic. State complexity or accuracy if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screenshots or a live demo of the key modules here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live demo or a pre-recorded video as backup. Walk through one complete user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sample chart data with your real results. Tie every observation to an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how you validated results: datasets, test plan, user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specific about who did what. Evaluators often ask each member 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limitations; reviewers value it. Show you learned from the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against the objectives from slide 3. End with a clear take-away.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your project to real-world use. Mention cost estimate if you have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what you are submitting. Add paper or patent status if 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97280"/>
            <a:ext cx="5303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788920"/>
            <a:ext cx="53035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474720"/>
            <a:ext cx="53035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[Project Title]  |  Major Project Final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[Project Title]  |  Major Project Final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309360" y="640080"/>
            <a:ext cx="2377440" cy="2377440"/>
          </a:xfrm>
          <a:prstGeom prst="ellipse">
            <a:avLst/>
          </a:prstGeom>
          <a:solidFill>
            <a:schemeClr val="accent2">
              <a:alpha val="7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" name="motif"/>
          <p:cNvSpPr/>
          <p:nvPr/>
        </p:nvSpPr>
        <p:spPr>
          <a:xfrm>
            <a:off x="7223760" y="2103120"/>
            <a:ext cx="1737360" cy="1737360"/>
          </a:xfrm>
          <a:prstGeom prst="ellipse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motif"/>
          <p:cNvSpPr/>
          <p:nvPr/>
        </p:nvSpPr>
        <p:spPr>
          <a:xfrm>
            <a:off x="5852160" y="3017520"/>
            <a:ext cx="1371600" cy="1371600"/>
          </a:xfrm>
          <a:prstGeom prst="ellipse">
            <a:avLst/>
          </a:prstGeom>
          <a:solidFill>
            <a:schemeClr val="accent2">
              <a:alpha val="4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1"/>
          <p:cNvSpPr>
            <a:spLocks noGrp="1"/>
          </p:cNvSpPr>
          <p:nvPr>
            <p:ph type="title" idx="101"/>
          </p:nvPr>
        </p:nvSpPr>
        <p:spPr>
          <a:xfrm>
            <a:off x="548640" y="109728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sz="2800" b="1"/>
              <a:t>Multilingual Real-Time Sign Language Translator</a:t>
            </a:r>
            <a:endParaRPr lang="en-US" sz="4000" dirty="0"/>
          </a:p>
        </p:txBody>
      </p:sp>
      <p:sp>
        <p:nvSpPr>
          <p:cNvPr id="6" name="Text 1"/>
          <p:cNvSpPr>
            <a:spLocks noGrp="1"/>
          </p:cNvSpPr>
          <p:nvPr>
            <p:ph type="body" idx="102"/>
          </p:nvPr>
        </p:nvSpPr>
        <p:spPr>
          <a:xfrm>
            <a:off x="548640" y="2788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600"/>
              <a:t>Hierarchical Mixture-of-Experts (MoE) Architecture</a:t>
            </a:r>
            <a:endParaRPr lang="en-US" sz="2000" dirty="0"/>
          </a:p>
        </p:txBody>
      </p:sp>
      <p:sp>
        <p:nvSpPr>
          <p:cNvPr id="7" name="Text 1"/>
          <p:cNvSpPr>
            <a:spLocks noGrp="1"/>
          </p:cNvSpPr>
          <p:nvPr>
            <p:ph type="body" idx="103"/>
          </p:nvPr>
        </p:nvSpPr>
        <p:spPr>
          <a:xfrm>
            <a:off x="548640" y="34747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200" b="0"/>
              <a:t>Mohit &amp; Team  |  Dept. of Computer Science &amp; Engineering</a:t>
            </a:r>
            <a:endParaRPr lang="en-US" sz="1400" dirty="0"/>
          </a:p>
          <a:p>
            <a:pPr marL="0" indent="0" algn="l">
              <a:buNone/>
            </a:pPr>
            <a:r>
              <a:rPr sz="1200" b="0"/>
              <a:t>Guide: Project Supervisor, Dept. of CSE</a:t>
            </a:r>
            <a:endParaRPr lang="en-US" sz="1400" dirty="0"/>
          </a:p>
          <a:p>
            <a:pPr marL="0" indent="0" algn="l">
              <a:buNone/>
            </a:pPr>
            <a:r>
              <a:rPr sz="1100" b="0"/>
              <a:t>Cambridge Institute of Technology North Campus, Bengaluru  |  Academic Year 2026–27</a:t>
            </a:r>
            <a:endParaRPr lang="en-US" sz="1400" dirty="0"/>
          </a:p>
        </p:txBody>
      </p:sp>
      <p:pic>
        <p:nvPicPr>
          <p:cNvPr id="1026" name="Picture 2" descr="C:\Users\Dell\Downloads\Cambridge Project Review Presentation Cov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36600" y="-415925"/>
            <a:ext cx="10617200" cy="597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267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Contents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Project Details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550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Agenda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9385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Abstract &amp; Introduction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21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219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Problem Statement &amp; Objectives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505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5054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Literature Survey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08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Existing System vs Proposed Solution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09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0723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Requirement Analysis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355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3558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Methodology &amp; Workflow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6393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System Architecture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9227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9227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Design Diagrams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206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4206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Algorithm &amp; Core Logic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1371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1371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Implementation Modules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1655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16550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Output Screens / Demo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19385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Results &amp; Performance Analysis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892040" y="2221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22219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Testing &amp; Validation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892040" y="2505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394960" y="25054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Team Contributions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89204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394960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Challenges &amp; Limitations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892040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394960" y="30723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Conclusion &amp; Future Scope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892040" y="3355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21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394960" y="33558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Applications &amp; Societal Impact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892040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22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394960" y="36393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Learning Outcomes &amp; Deliverables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892040" y="39227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23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394960" y="39227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References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4892040" y="4206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5394960" y="4206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Thank You</a:t>
            </a:r>
            <a:endParaRPr lang="en-US" sz="14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050" name="Picture 2" descr="C:\Users\Dell\Downloads\Cambridge Institute Contents and Thank You Slide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36600" y="-412750"/>
            <a:ext cx="10617200" cy="596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Dell\Downloads\Cambridge Contents Overview Slid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4200" y="-263525"/>
            <a:ext cx="10617200" cy="597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Details</a:t>
            </a:r>
            <a:endParaRPr lang="en-US" sz="3200" dirty="0"/>
          </a:p>
        </p:txBody>
      </p:sp>
      <p:graphicFrame>
        <p:nvGraphicFramePr>
          <p:cNvPr id="4" name="detail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18211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100" b="1"/>
                        <a:t>Project Title</a:t>
                      </a: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Multilingual Real-Time Sign Language Translator (MoE Edition)</a:t>
                      </a: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0"/>
                        <a:t>Domain / Area</a:t>
                      </a: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Computer Vision, Deep Learning (MoE), NLP &amp; Multilingual Assistive Tech</a:t>
                      </a: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0"/>
                        <a:t>Team Members</a:t>
                      </a: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Mohit (Lead Developer) &amp; Team Members | CSE Department</a:t>
                      </a: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0"/>
                        <a:t>Project Guide</a:t>
                      </a: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Project Supervisor, Assistant Professor, Dept. of CSE</a:t>
                      </a: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0"/>
                        <a:t>Department &amp; College</a:t>
                      </a: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Dept. of Computer Science &amp; Engineering, Cambridge Institute of Technology North Campus, Bengaluru</a:t>
                      </a: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0"/>
                        <a:t>Duration / Batch</a:t>
                      </a: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Academic Year 2026–2027 | Major Project Phase 2 (P2R2)</a:t>
                      </a: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280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Introduction &amp; Problem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457200" y="237744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377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Literature Survey &amp; Gap</a:t>
            </a:r>
            <a:endParaRPr lang="en-US" sz="1800" dirty="0"/>
          </a:p>
        </p:txBody>
      </p:sp>
      <p:sp>
        <p:nvSpPr>
          <p:cNvPr id="11" name="card"/>
          <p:cNvSpPr/>
          <p:nvPr/>
        </p:nvSpPr>
        <p:spPr>
          <a:xfrm>
            <a:off x="457200" y="3474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685800" y="37033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74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Requirements &amp; Design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4663440" y="128016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1280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Implementation &amp; Demo</a:t>
            </a:r>
            <a:endParaRPr lang="en-US" sz="1800" dirty="0"/>
          </a:p>
        </p:txBody>
      </p:sp>
      <p:sp>
        <p:nvSpPr>
          <p:cNvPr id="19" name="card"/>
          <p:cNvSpPr/>
          <p:nvPr/>
        </p:nvSpPr>
        <p:spPr>
          <a:xfrm>
            <a:off x="4663440" y="237744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4892040" y="2606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2377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Results &amp; Testing</a:t>
            </a:r>
            <a:endParaRPr lang="en-US" sz="1800" dirty="0"/>
          </a:p>
        </p:txBody>
      </p:sp>
      <p:sp>
        <p:nvSpPr>
          <p:cNvPr id="23" name="card"/>
          <p:cNvSpPr/>
          <p:nvPr/>
        </p:nvSpPr>
        <p:spPr>
          <a:xfrm>
            <a:off x="4663440" y="3474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4892040" y="37033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3474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Conclusion &amp; Future Scope</a:t>
            </a:r>
            <a:endParaRPr lang="en-US" sz="1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Abstract &amp; Introduction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51206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Abstract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00" b="0"/>
              <a:t>Traditional Sign Language Recognition (SLR) systems employ monolithic models that suffer from computational bottlenecks and poor accuracy trade-offs across distinct gesture dynamics. This project presents a high-throughput, low-latency assistive system featuring a Hierarchical Mixture-of-Experts (MoE) architecture. A heuristic kinematic router dynamically steers incoming MediaPipe 21-hand landmark telemetry: single-hand gestures route to an Alphabet Expert Dense MLP (60-D wrist-relative features, 98.2% test accuracy), while dual-hand gestures route to a temporal Word Expert Conv1D-GRU network (123-D spatiotemporal features x 30-frame temporal window, 92.4% test accuracy). Real-time predictions feed into an offline/online hybrid translation pipeline supporting 9 Indian and global languages (English, Kannada, Hindi, Tamil, Telugu, Malayalam, French, German, Spanish) paired with low-latency TTS speech synthesis, 3D interactive avatar visualization, and Neon PostgreSQL continual learning.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760720" y="1280160"/>
            <a:ext cx="29260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8932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Domain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100" b="0"/>
              <a:t>Assistive AI, Computer Vision, Spatiotemporal Deep Learning &amp; Human-Computer Interaction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760720" y="3017520"/>
            <a:ext cx="292608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Keywords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100" b="0"/>
              <a:t>Mixture-of-Experts (MoE), MediaPipe Landmarker, Conv1D-GRU, Multilingual NLP, Continual Learning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 &amp; Objectives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38404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 b="0"/>
              <a:t>Over 70 million deaf individuals globally face communication barriers due to sign language illiteracy among the hearing population. Existing vision-based recognition systems rely on compute-heavy monolithic architectures, causing high latency (&gt;150ms), gesture-type confusion between static letters and dynamic sequences, and zero runtime adaptability for custom vocabulary.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572000" y="1280160"/>
            <a:ext cx="41148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badge"/>
          <p:cNvSpPr/>
          <p:nvPr/>
        </p:nvSpPr>
        <p:spPr>
          <a:xfrm>
            <a:off x="480060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280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/>
              <a:t>Hierarchical MoE Dual-Engine Recognition</a:t>
            </a:r>
            <a:endParaRPr lang="en-US" sz="1600" dirty="0"/>
          </a:p>
          <a:p>
            <a:pPr marL="0" indent="0">
              <a:buNone/>
            </a:pPr>
            <a:r>
              <a:rPr sz="1000" b="0"/>
              <a:t>Formulate 60-D and 123-D scale-invariant kinematic features using MediaPipe to accurately recognize 26 static letters (Dense MLP) and 100+ dynamic word sequences (Conv1D-GRU) in real-time (&gt;30 FPS).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4572000" y="2423160"/>
            <a:ext cx="41148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"/>
          <p:cNvSpPr/>
          <p:nvPr/>
        </p:nvSpPr>
        <p:spPr>
          <a:xfrm>
            <a:off x="4800600" y="2697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423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/>
              <a:t>Zero-Latency Multilingual Speech &amp; 3D Interactive UI</a:t>
            </a:r>
            <a:endParaRPr lang="en-US" sz="1600" dirty="0"/>
          </a:p>
          <a:p>
            <a:pPr marL="0" indent="0">
              <a:buNone/>
            </a:pPr>
            <a:r>
              <a:rPr sz="1000" b="0"/>
              <a:t>Build a responsive 4-tier translation pipeline across 9 languages (including regional Kannada, Hindi, Tamil) with sub-1ms cached TTS speech output and client-side Three.js 3D hand avatar visualization.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4572000" y="3566160"/>
            <a:ext cx="41148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"/>
          <p:cNvSpPr/>
          <p:nvPr/>
        </p:nvSpPr>
        <p:spPr>
          <a:xfrm>
            <a:off x="4800600" y="3840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/>
              <a:t>Continual Learning &amp; Cloud Model Synchronization</a:t>
            </a:r>
            <a:endParaRPr lang="en-US" sz="1600" dirty="0"/>
          </a:p>
          <a:p>
            <a:pPr marL="0" indent="0">
              <a:buNone/>
            </a:pPr>
            <a:r>
              <a:rPr sz="1000" b="0"/>
              <a:t>Implement transfer learning with experience replay and layer freezing to register new gestures at runtime without retraining from scratch, synchronized across devices via Neon Cloud PostgreSQL.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Literature Survey</a:t>
            </a:r>
            <a:endParaRPr lang="en-US" sz="32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8346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900" b="1"/>
                        <a:t>Author (Year)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Technique Used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Key Findings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Gap / Limitation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900" b="0"/>
                        <a:t>Grassknoted et al. (2018)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CNN on Raw RGB ASL Frames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High static alphabet classification accuracy (96.5%) in controlled lab settings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Sensitive to background noise and lighting; unable to track temporal word sequences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900" b="0"/>
                        <a:t>Li et al. (WLASL, 2020)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I3D &amp; 3D-CNN Spatiotemporal Models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Recognized large-scale dynamic sign vocabulary across diverse web videos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Gigantic parameter volume (&gt;25M params); excessive latency unsuitable for real-time edge devices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900" b="0"/>
                        <a:t>Lugaresi et al. (MediaPipe, 2019)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Single-Shot Palm Detector + Landmark Regression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Real-time 2.5D tracking of 21 keypoints per hand at 30+ FPS on CPU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Raw coordinates vary with camera distance, rotation, and subject hand size; no classification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900" b="0"/>
                        <a:t>Mohit &amp; Team (Proposed, 2026)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MoE Router + 60-D/123-D Features + Conv1D-GRU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98.2% alphabet and 92.4% word accuracy at 30 FPS with runtime transfer learning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Achieves real-time edge translation across 9 languages with zero catastrophic forgetting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0"/>
              <a:t>Comprehensive literature analysis validating the shift from heavy RGB CNNs to landmark-based Mixture-of-Experts with scale-invariant geometric normalization.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Existing System vs Proposed Solution</a:t>
            </a:r>
            <a:endParaRPr lang="en-US" sz="3200" dirty="0"/>
          </a:p>
        </p:txBody>
      </p:sp>
      <p:sp>
        <p:nvSpPr>
          <p:cNvPr id="3" name="left-card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Existing Systems / Gap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Monolithic Bottleneck: Single neural networks attempt to learn both micro static finger bends and macro dual-arm trajectory movements, leading to conflicting gradients and high parameter sizes.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Coordinate Instability: Direct pixel inputs or raw (x, y, z) landmarks shift with user distance and wrist position, breaking generalization across diverse physical environments.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Fixed Lexicon &amp; Catastrophic Forgetting: Cannot add user-defined or regional signs without retraining the entire model on thousands of original samples from scratch.</a:t>
            </a:r>
            <a:endParaRPr lang="en-US" sz="1400" dirty="0"/>
          </a:p>
        </p:txBody>
      </p:sp>
      <p:sp>
        <p:nvSpPr>
          <p:cNvPr id="6" name="right-card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Proposed Solution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Kinematic MoE Router: Dispatches 0-hand (IDLE), 1-hand (60-D Alphabet MLP), and 2-hand (123-D Word Conv1D-GRU) data to dedicated specialist models for optimal accuracy and speed.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L2 Wrist-Relative Normalization: Mathematically eliminates camera distance and hand-size variations via wrist subtraction and Euclidean norm scaling.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Dynamic Continual Transfer Learning: Freezes feature extractors, expands softmax heads, and samples experience replay buffers to learn custom signs in ~15 seconds with zero downtime hot-reloading.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Requirement Analysis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Functional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2103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Real-Time Video Ingestion: 30 FPS client-side webcam capture with WebSocket / HTTP MJPEG streaming.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Kinematic Landmark Extraction: Tracking of 21 3D landmarks per hand via MediaPipe Tasks.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Multilingual Audio Synthesis: Instant translation into 9 languages with synchronized TTS playback.</a:t>
            </a:r>
            <a:endParaRPr lang="en-US" sz="1400" dirty="0"/>
          </a:p>
          <a:p>
            <a:r>
              <a:rPr sz="1000" b="0"/>
              <a:t>• Continual Sign Recording: 10-shot interactive sequence capture with automated validation.</a:t>
            </a:r>
          </a:p>
        </p:txBody>
      </p:sp>
      <p:sp>
        <p:nvSpPr>
          <p:cNvPr id="6" name="card"/>
          <p:cNvSpPr/>
          <p:nvPr/>
        </p:nvSpPr>
        <p:spPr>
          <a:xfrm>
            <a:off x="3291840" y="128016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Non-Functional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965960"/>
            <a:ext cx="2103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Latency: Sub-35ms frame-to-prediction response; 0ms cached translation lookup.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Stability: 3-frame (Alphabet) and 2-frame (Word) temporal debounce preventing output flicker.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Scalability &amp; Security: Werkzeug password hashing, role-based session auth, and PostgreSQL database.</a:t>
            </a:r>
            <a:endParaRPr lang="en-US" sz="1400" dirty="0"/>
          </a:p>
          <a:p>
            <a:r>
              <a:rPr sz="1000" b="0"/>
              <a:t>• Portability: Cross-platform web architecture accessible via browser on desktop, laptop, or mobile.</a:t>
            </a:r>
          </a:p>
        </p:txBody>
      </p:sp>
      <p:sp>
        <p:nvSpPr>
          <p:cNvPr id="9" name="card"/>
          <p:cNvSpPr/>
          <p:nvPr/>
        </p:nvSpPr>
        <p:spPr>
          <a:xfrm>
            <a:off x="6126480" y="128016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Tools &amp; Platform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965960"/>
            <a:ext cx="2103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Software Stack: Python 3.11, OpenCV 4.9, TensorFlow 2.16, MediaPipe 0.10.14, Flask 3.0, NumPy.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Database &amp; Cloud: Neon Cloud Serverless PostgreSQL (psycopg2-binary) + Local SQLite3 caching.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Frontend &amp; 3D: HTML5/CSS3, JavaScript ES6, Three.js r128 3D Hand Rig, Bootstrap UI.</a:t>
            </a:r>
            <a:endParaRPr lang="en-US" sz="1400" dirty="0"/>
          </a:p>
          <a:p>
            <a:r>
              <a:rPr sz="1000" b="0"/>
              <a:t>• Hardware Specs: Standard 720p HD webcam, Intel Core i5 / AMD Ryzen CPU (no dedicated GPU required).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Methodology &amp; Workflow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1554480" cy="23774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100584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0312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sz="1200" b="1"/>
              <a:t>Requirements &amp; Dataset</a:t>
            </a:r>
            <a:endParaRPr lang="en-US" sz="1400" dirty="0"/>
          </a:p>
          <a:p>
            <a:pPr marL="0" indent="0" algn="ctr">
              <a:spcAft>
                <a:spcPts val="400"/>
              </a:spcAft>
              <a:buNone/>
            </a:pPr>
            <a:r>
              <a:rPr sz="1000" b="0"/>
              <a:t>Curated Kaggle ASL Alphabet (static) and WLASL video datasets; extracted 60-D &amp; 123-D geometric features.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2125980" y="1280160"/>
            <a:ext cx="1554480" cy="23774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267462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46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63140" y="210312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sz="1200" b="1"/>
              <a:t>Architecture Design</a:t>
            </a:r>
            <a:endParaRPr lang="en-US" sz="1400" dirty="0"/>
          </a:p>
          <a:p>
            <a:pPr marL="0" indent="0" algn="ctr">
              <a:spcAft>
                <a:spcPts val="400"/>
              </a:spcAft>
              <a:buNone/>
            </a:pPr>
            <a:r>
              <a:rPr sz="1000" b="0"/>
              <a:t>Designed MoE router logic, Dense MLP, Conv1D-GRU temporal pipeline, and 4-tier fallback translation model.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3794760" y="1280160"/>
            <a:ext cx="1554480" cy="23774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43434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10312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sz="1200" b="1"/>
              <a:t>Model Training &amp; Web App</a:t>
            </a:r>
            <a:endParaRPr lang="en-US" sz="1400" dirty="0"/>
          </a:p>
          <a:p>
            <a:pPr marL="0" indent="0" algn="ctr">
              <a:spcAft>
                <a:spcPts val="400"/>
              </a:spcAft>
              <a:buNone/>
            </a:pPr>
            <a:r>
              <a:rPr sz="1000" b="0"/>
              <a:t>Trained expert networks with early stopping and lr reduction; developed Flask 4-page responsive interface.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63540" y="1280160"/>
            <a:ext cx="1554480" cy="23774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601218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121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00700" y="210312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sz="1200" b="1"/>
              <a:t>Validation &amp; Benchmarking</a:t>
            </a:r>
            <a:endParaRPr lang="en-US" sz="1400" dirty="0"/>
          </a:p>
          <a:p>
            <a:pPr marL="0" indent="0" algn="ctr">
              <a:spcAft>
                <a:spcPts val="400"/>
              </a:spcAft>
              <a:buNone/>
            </a:pPr>
            <a:r>
              <a:rPr sz="1000" b="0"/>
              <a:t>Evaluated precision, recall, confusion matrix, FPS stability, and cross-lingual phonetic accuracy.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7132320" y="1280160"/>
            <a:ext cx="1554480" cy="23774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768096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210312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sz="1200" b="1"/>
              <a:t>Cloud Sync &amp; Deployment</a:t>
            </a:r>
            <a:endParaRPr lang="en-US" sz="1400" dirty="0"/>
          </a:p>
          <a:p>
            <a:pPr marL="0" indent="0" algn="ctr">
              <a:spcAft>
                <a:spcPts val="400"/>
              </a:spcAft>
              <a:buNone/>
            </a:pPr>
            <a:r>
              <a:rPr sz="1000" b="0"/>
              <a:t>Deployed to local/LAN network with Neon PostgreSQL sync, continual learning hot-reloading, and audio engine.</a:t>
            </a:r>
            <a:endParaRPr lang="en-US" sz="1400" dirty="0"/>
          </a:p>
        </p:txBody>
      </p:sp>
      <p:sp>
        <p:nvSpPr>
          <p:cNvPr id="23" name="method-strip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0"/>
              <a:t>Model followed: Iterative &amp; Modular Agile Development — enabled concurrent refinement of ML models and web interfaces.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flow-box"/>
          <p:cNvSpPr/>
          <p:nvPr/>
        </p:nvSpPr>
        <p:spPr>
          <a:xfrm>
            <a:off x="502920" y="1280160"/>
            <a:ext cx="16916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801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/>
              <a:t>Input Layer</a:t>
            </a:r>
            <a:endParaRPr lang="en-US" sz="1600" dirty="0"/>
          </a:p>
          <a:p>
            <a:pPr marL="0" indent="0" algn="ctr">
              <a:buNone/>
            </a:pPr>
            <a:r>
              <a:rPr sz="900" b="0"/>
              <a:t>HD Webcam feed (640x480) mirrored for natural interaction; MediaPipe 2-hand detector.</a:t>
            </a:r>
            <a:endParaRPr lang="en-US" sz="1600" dirty="0"/>
          </a:p>
        </p:txBody>
      </p:sp>
      <p:sp>
        <p:nvSpPr>
          <p:cNvPr id="5" name="flow-arrow"/>
          <p:cNvSpPr/>
          <p:nvPr/>
        </p:nvSpPr>
        <p:spPr>
          <a:xfrm>
            <a:off x="2267712" y="1737360"/>
            <a:ext cx="32004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flow-box"/>
          <p:cNvSpPr/>
          <p:nvPr/>
        </p:nvSpPr>
        <p:spPr>
          <a:xfrm>
            <a:off x="2651760" y="1280160"/>
            <a:ext cx="16916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2801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/>
              <a:t>Feature Pipeline</a:t>
            </a:r>
            <a:endParaRPr lang="en-US" sz="1600" dirty="0"/>
          </a:p>
          <a:p>
            <a:pPr marL="0" indent="0" algn="ctr">
              <a:buNone/>
            </a:pPr>
            <a:r>
              <a:rPr sz="900" b="0"/>
              <a:t>60-D wrist-relative vector (1 hand) or 123-D dual-hand spatiotemporal sequence (2 hands).</a:t>
            </a:r>
            <a:endParaRPr lang="en-US" sz="1600" dirty="0"/>
          </a:p>
        </p:txBody>
      </p:sp>
      <p:sp>
        <p:nvSpPr>
          <p:cNvPr id="8" name="flow-arrow"/>
          <p:cNvSpPr/>
          <p:nvPr/>
        </p:nvSpPr>
        <p:spPr>
          <a:xfrm>
            <a:off x="4416552" y="1737360"/>
            <a:ext cx="32004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low-box"/>
          <p:cNvSpPr/>
          <p:nvPr/>
        </p:nvSpPr>
        <p:spPr>
          <a:xfrm>
            <a:off x="4800600" y="1280160"/>
            <a:ext cx="169164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801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/>
              <a:t>Core Experts (MoE)</a:t>
            </a:r>
            <a:endParaRPr lang="en-US" sz="1600" dirty="0"/>
          </a:p>
          <a:p>
            <a:pPr marL="0" indent="0" algn="ctr">
              <a:buNone/>
            </a:pPr>
            <a:r>
              <a:rPr sz="900" b="0"/>
              <a:t>Alphabet Expert (Dense MLP) &amp; Word Expert (Conv1D + GRU + deque buffer of 30 frames).</a:t>
            </a:r>
            <a:endParaRPr lang="en-US" sz="1600" dirty="0"/>
          </a:p>
        </p:txBody>
      </p:sp>
      <p:sp>
        <p:nvSpPr>
          <p:cNvPr id="11" name="flow-arrow"/>
          <p:cNvSpPr/>
          <p:nvPr/>
        </p:nvSpPr>
        <p:spPr>
          <a:xfrm>
            <a:off x="6565392" y="1737360"/>
            <a:ext cx="32004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flow-box"/>
          <p:cNvSpPr/>
          <p:nvPr/>
        </p:nvSpPr>
        <p:spPr>
          <a:xfrm>
            <a:off x="6949440" y="1280160"/>
            <a:ext cx="16916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2801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/>
              <a:t>Output &amp; Services</a:t>
            </a:r>
            <a:endParaRPr lang="en-US" sz="1600" dirty="0"/>
          </a:p>
          <a:p>
            <a:pPr marL="0" indent="0" algn="ctr">
              <a:buNone/>
            </a:pPr>
            <a:r>
              <a:rPr sz="900" b="0"/>
              <a:t>9-Language translation, pyttsx3/Google TTS audio speech, Three.js 3D avatar &amp; Neon DB log.</a:t>
            </a:r>
            <a:endParaRPr lang="en-US" sz="1600" dirty="0"/>
          </a:p>
        </p:txBody>
      </p:sp>
      <p:sp>
        <p:nvSpPr>
          <p:cNvPr id="14" name="diagram-placeholder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/>
              <a:t>Hierarchical Mixture-of-Experts Architecture Workflow:</a:t>
            </a:r>
            <a:br/>
            <a:r>
              <a:rPr sz="900" b="0"/>
              <a:t>[Client Webcam / Browser Capture]  --&gt;  [MediaPipe 21-Landmark Telemetry (x,y,z)]</a:t>
            </a:r>
            <a:br/>
            <a:r>
              <a:rPr sz="900" b="0"/>
              <a:t>  |</a:t>
            </a:r>
            <a:br/>
            <a:r>
              <a:rPr sz="900" b="0"/>
              <a:t>  +-- 0 Hands Detected  --&gt;  [IDLE State] (debounced after 4 frames)</a:t>
            </a:r>
            <a:br/>
            <a:r>
              <a:rPr sz="900" b="0"/>
              <a:t>  |</a:t>
            </a:r>
            <a:br/>
            <a:r>
              <a:rPr sz="900" b="0"/>
              <a:t>  +-- 1 Hand Detected   --&gt;  [60-D Wrist-Relative Feature Vector]  --&gt;  [Alphabet Expert Dense MLP]  --&gt;  [3-Frame Stability]  --&gt;  Letter [A-Z]</a:t>
            </a:r>
            <a:br/>
            <a:r>
              <a:rPr sz="900" b="0"/>
              <a:t>  |</a:t>
            </a:r>
            <a:br/>
            <a:r>
              <a:rPr sz="900" b="0"/>
              <a:t>  +-- 2 Hands Detected  --&gt;  [123-D Dual-Hand Feature Vector]  --&gt;  [Sliding deque(30, 123)]  --&gt;  [Word Expert Conv1D-GRU]  --&gt;  [2-Frame Stability]  --&gt;  Word</a:t>
            </a:r>
            <a:br/>
            <a:r>
              <a:rPr sz="900" b="0"/>
              <a:t>                                                                                                                      |</a:t>
            </a:r>
            <a:br/>
            <a:r>
              <a:rPr sz="900" b="0"/>
              <a:t>                                                                                                                      v</a:t>
            </a:r>
            <a:br/>
            <a:r>
              <a:rPr sz="900" b="0"/>
              <a:t>                                            [4-Tier Translation: Local Dict (0ms) / Neon DB / Google GTX API]  --&gt;  [Multilingual TTS Audio + 3D Avatar]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Design Diagrams</a:t>
            </a:r>
            <a:endParaRPr lang="en-US" sz="3200" dirty="0"/>
          </a:p>
        </p:txBody>
      </p:sp>
      <p:sp>
        <p:nvSpPr>
          <p:cNvPr id="3" name="placeholder-frame"/>
          <p:cNvSpPr/>
          <p:nvPr/>
        </p:nvSpPr>
        <p:spPr>
          <a:xfrm>
            <a:off x="457200" y="1280160"/>
            <a:ext cx="4023360" cy="1508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/>
              <a:t>Use Case Interaction Architecture</a:t>
            </a:r>
            <a:endParaRPr lang="en-US" sz="1600" dirty="0"/>
          </a:p>
          <a:p>
            <a:pPr marL="0" indent="0" algn="ctr">
              <a:buNone/>
            </a:pPr>
            <a:r>
              <a:rPr sz="900" b="0"/>
              <a:t>• Signer: Streams live gestures, views visual feedback banner, selects target language, and listens to synthesized speech.</a:t>
            </a:r>
            <a:br/>
            <a:r>
              <a:rPr sz="900" b="0"/>
              <a:t>• Educator/Admin: Records 10 gesture sequence samples, reviews pending submissions, executes background transfer learning, and manages models.</a:t>
            </a:r>
            <a:endParaRPr lang="en-US" sz="1600" dirty="0"/>
          </a:p>
        </p:txBody>
      </p:sp>
      <p:sp>
        <p:nvSpPr>
          <p:cNvPr id="5" name="placeholder-frame"/>
          <p:cNvSpPr/>
          <p:nvPr/>
        </p:nvSpPr>
        <p:spPr>
          <a:xfrm>
            <a:off x="4663440" y="1280160"/>
            <a:ext cx="4023360" cy="1508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663440" y="128016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/>
              <a:t>Data Flow Architecture (DFD Level 1)</a:t>
            </a:r>
            <a:endParaRPr lang="en-US" sz="1600" dirty="0"/>
          </a:p>
          <a:p>
            <a:pPr marL="0" indent="0" algn="ctr">
              <a:buNone/>
            </a:pPr>
            <a:r>
              <a:rPr sz="900" b="0"/>
              <a:t>• Process 1.0 (Vision): Video Stream --&gt; Landmark Normalization --&gt; Feature Formatter.</a:t>
            </a:r>
            <a:br/>
            <a:r>
              <a:rPr sz="900" b="0"/>
              <a:t>• Process 2.0 (Inference): MoE Router --&gt; [Alphabet MLP | Word Conv1D-GRU] --&gt; Debounce.</a:t>
            </a:r>
            <a:br/>
            <a:r>
              <a:rPr sz="900" b="0"/>
              <a:t>• Process 3.0 (NLP &amp; Audio): Cache Check (0ms) --&gt; API Fallback --&gt; Audio Engine Playback.</a:t>
            </a:r>
            <a:br/>
            <a:r>
              <a:rPr sz="900" b="0"/>
              <a:t>• Data Stores: D1: Neon PostgreSQL (users, logs, models), D2: Local SQLite Cache, D3: .h5/.pkl models.</a:t>
            </a:r>
            <a:endParaRPr lang="en-US" sz="1600" dirty="0"/>
          </a:p>
        </p:txBody>
      </p:sp>
      <p:sp>
        <p:nvSpPr>
          <p:cNvPr id="7" name="placeholder-frame"/>
          <p:cNvSpPr/>
          <p:nvPr/>
        </p:nvSpPr>
        <p:spPr>
          <a:xfrm>
            <a:off x="457200" y="3063240"/>
            <a:ext cx="4023360" cy="1508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57200" y="306324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/>
              <a:t>Entity-Relationship &amp; Class Architecture</a:t>
            </a:r>
            <a:endParaRPr lang="en-US" sz="1600" dirty="0"/>
          </a:p>
          <a:p>
            <a:pPr marL="0" indent="0" algn="ctr">
              <a:buNone/>
            </a:pPr>
            <a:r>
              <a:rPr sz="900" b="0"/>
              <a:t>• Core Entities: USERS (1:N) --&gt; SESSIONS, SUBMISSIONS (1:N) --&gt; SAMPLES, MODEL_VERSIONS.</a:t>
            </a:r>
            <a:br/>
            <a:r>
              <a:rPr sz="900" b="0"/>
              <a:t>• ML Classes: GesturePredictor (coordinates routing, stability deque, pure NumPy evaluation), DatabaseManager (PostgreSQL/SQLite), AudioTranslator (caching &amp; TTS).</a:t>
            </a:r>
            <a:endParaRPr lang="en-US" sz="1600" dirty="0"/>
          </a:p>
        </p:txBody>
      </p:sp>
      <p:sp>
        <p:nvSpPr>
          <p:cNvPr id="9" name="placeholder-frame"/>
          <p:cNvSpPr/>
          <p:nvPr/>
        </p:nvSpPr>
        <p:spPr>
          <a:xfrm>
            <a:off x="4663440" y="3063240"/>
            <a:ext cx="4023360" cy="1508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663440" y="306324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/>
              <a:t>Dynamic Continual Learning Sequence</a:t>
            </a:r>
            <a:endParaRPr lang="en-US" sz="1600" dirty="0"/>
          </a:p>
          <a:p>
            <a:pPr marL="0" indent="0" algn="ctr">
              <a:buNone/>
            </a:pPr>
            <a:r>
              <a:rPr sz="900" b="0"/>
              <a:t>User records 10 samples --&gt; Video sampled to 30x123 --&gt; Retrain engine loads word_expert.h5 --&gt; Freezes Conv1D &amp; GRU layers --&gt; Expands output Dense(N+1) --&gt; Samples experience replay buffer (prevents forgetting) --&gt; Trains 35 epochs --&gt; Atomic Hot-Reload in predictor.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Algorithm &amp; Core Logic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Algorithm / Approach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sz="1000" b="1"/>
              <a:t>1. Landmark Normalization &amp; Mathematical Formulation: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sz="900" b="0"/>
              <a:t>   • Single Hand (60-D): P_rel = (P_i - P_wrist) for i in [1..20]; Feat_60 = P_rel / ||P_rel||_2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sz="900" b="0"/>
              <a:t>   • Dual Hand (123-D): Feat_123 = [Left_60, Right_60, (Wrist_L - Wrist_R)]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sz="1000" b="1"/>
              <a:t>2. Heuristic MoE Routing Policy:</a:t>
            </a:r>
            <a:endParaRPr lang="en-US" sz="1400" dirty="0"/>
          </a:p>
          <a:p>
            <a:r>
              <a:rPr sz="900" b="0"/>
              <a:t>   • Hand_Count == 0 =&gt; IDLE state (4-frame debounce)</a:t>
            </a:r>
          </a:p>
          <a:p>
            <a:r>
              <a:rPr sz="900" b="0"/>
              <a:t>   • Hand_Count == 1 =&gt; Evaluate Alphabet Expert (Pure NumPy MLP forward pass)</a:t>
            </a:r>
          </a:p>
          <a:p>
            <a:r>
              <a:rPr sz="900" b="0"/>
              <a:t>   • Hand_Count == 2 =&gt; Push to deque(maxlen=30) =&gt; Conv1D-GRU temporal inference</a:t>
            </a:r>
          </a:p>
          <a:p>
            <a:r>
              <a:rPr sz="900" b="0"/>
              <a:t>3. Temporal Stability Filter: Output triggered only when label matches for K consecutive frames (K=3 for Alphabet, K=2 for Word), eliminating frame noise.</a:t>
            </a:r>
          </a:p>
        </p:txBody>
      </p:sp>
      <p:sp>
        <p:nvSpPr>
          <p:cNvPr id="6" name="code-card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Pseudocode / Snippet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800" b="1"/>
              <a:t># Core Inference &amp; Feature Formulation Loop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sz="800" b="0"/>
              <a:t>def process_telemetry(landmarks, hand_count):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sz="800" b="0"/>
              <a:t>    if hand_count == 1: # Alphabet Expert (60-D)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sz="800" b="0"/>
              <a:t>        rel = (landmarks[1:] - landmarks[0])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sz="800" b="0"/>
              <a:t>        feat = rel / np.linalg.norm(rel)  # Scale invariant L2 norm</a:t>
            </a:r>
            <a:endParaRPr lang="en-US" sz="1200" dirty="0"/>
          </a:p>
          <a:p>
            <a:r>
              <a:rPr sz="800" b="0"/>
              <a:t>        # Ultra-fast pure NumPy forward pass:</a:t>
            </a:r>
          </a:p>
          <a:p>
            <a:r>
              <a:rPr sz="800" b="0"/>
              <a:t>        h1 = np.maximum(0.0, feat @ W1 + b1) # ReLU</a:t>
            </a:r>
          </a:p>
          <a:p>
            <a:r>
              <a:rPr sz="800" b="0"/>
              <a:t>        h2 = np.maximum(0.0, h1 @ W2 + b2)</a:t>
            </a:r>
          </a:p>
          <a:p>
            <a:r>
              <a:rPr sz="800" b="0"/>
              <a:t>        probs = softmax(h2 @ W3 + b3)</a:t>
            </a:r>
          </a:p>
          <a:p>
            <a:r>
              <a:rPr sz="800" b="0"/>
              <a:t>        return filter_stability(probs, threshold=0.70, frames=3)</a:t>
            </a:r>
          </a:p>
          <a:p>
            <a:r>
              <a:rPr sz="800" b="0"/>
              <a:t>    elif hand_count == 2: # Word Expert (123-D x 30)</a:t>
            </a:r>
          </a:p>
          <a:p>
            <a:r>
              <a:rPr sz="800" b="0"/>
              <a:t>        feat_123 = concat([left_norm, right_norm, wrist_L - wrist_R])</a:t>
            </a:r>
          </a:p>
          <a:p>
            <a:r>
              <a:rPr sz="800" b="0"/>
              <a:t>        buffer.append(feat_123)</a:t>
            </a:r>
          </a:p>
          <a:p>
            <a:r>
              <a:rPr sz="800" b="0"/>
              <a:t>        if len(buffer) == 30: # Conv1D + GRU model</a:t>
            </a:r>
          </a:p>
          <a:p>
            <a:r>
              <a:rPr sz="800" b="0"/>
              <a:t>            probs = word_expert_model.predict(np.expand_dims(buffer, 0))</a:t>
            </a:r>
          </a:p>
          <a:p>
            <a:r>
              <a:rPr sz="800" b="0"/>
              <a:t>            return filter_stability(probs, threshold=0.70, frames=2)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Implementation Modules</a:t>
            </a:r>
            <a:endParaRPr lang="en-US" sz="3200" dirty="0"/>
          </a:p>
        </p:txBody>
      </p:sp>
      <p:graphicFrame>
        <p:nvGraphicFramePr>
          <p:cNvPr id="15" name="modul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900" b="1"/>
                        <a:t>Module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Description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Status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900" b="0"/>
                        <a:t>1. Vision &amp; Landmark Pipeline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MediaPipe Hand Landmarker integration; extracts 21 (x,y,z) coordinates per hand; computes 60-D and 123-D L2-normalized vectors.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Completed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900" b="0"/>
                        <a:t>2. MoE Router &amp; Experts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Dynamic heuristic router; Alphabet Dense MLP (16.5K params); Word Conv1D-GRU network (41K params); sliding window temporal buffer.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Completed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900" b="0"/>
                        <a:t>3. Continual Transfer Learning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Dynamic layer-freezing engine; experience replay buffer with oversampling; hot-reload predictor without application downtime.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Completed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900" b="0"/>
                        <a:t>4. Multilingual &amp; TTS Engine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4-tier translation fallback (built-in JSON, PostgreSQL cache, Google GTX); threaded pyttsx3 and Google TTS for 9 languages.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Completed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900" b="0"/>
                        <a:t>Integration &amp; Web Application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Flask web portal featuring Live Camera inference, Teach Sign studio, Three.js 3D avatar rig, and Neon Cloud PostgreSQL sync.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Completed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Output Screens / Demo</a:t>
            </a:r>
            <a:endParaRPr lang="en-US" sz="3200" dirty="0"/>
          </a:p>
        </p:txBody>
      </p:sp>
      <p:sp>
        <p:nvSpPr>
          <p:cNvPr id="3" name="placeholder-frame"/>
          <p:cNvSpPr/>
          <p:nvPr/>
        </p:nvSpPr>
        <p:spPr>
          <a:xfrm>
            <a:off x="457200" y="1280160"/>
            <a:ext cx="2560320" cy="25603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/>
              <a:t>Live Camera Recognition UI</a:t>
            </a:r>
            <a:endParaRPr lang="en-US" sz="1600" dirty="0"/>
          </a:p>
          <a:p>
            <a:pPr marL="0" indent="0" algn="ctr">
              <a:buNone/>
            </a:pPr>
            <a:r>
              <a:rPr sz="900" b="0"/>
              <a:t>• Real-time webcam video feed with skeleton tracking overlay</a:t>
            </a:r>
            <a:br/>
            <a:r>
              <a:rPr sz="900" b="0"/>
              <a:t>• Visual MoE router badge: IDLE / ALPHABET / WORD</a:t>
            </a:r>
            <a:br/>
            <a:r>
              <a:rPr sz="900" b="0"/>
              <a:t>• Top prediction banner showing recognized sign &amp; confidence</a:t>
            </a:r>
            <a:br/>
            <a:r>
              <a:rPr sz="900" b="0"/>
              <a:t>• Target language selection dropdown (9 languages) &amp; audio toggle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Screen 1: Live Recognition &amp; Multilingual UI</a:t>
            </a:r>
            <a:endParaRPr lang="en-US" sz="1400" dirty="0"/>
          </a:p>
        </p:txBody>
      </p:sp>
      <p:sp>
        <p:nvSpPr>
          <p:cNvPr id="6" name="placeholder-frame"/>
          <p:cNvSpPr/>
          <p:nvPr/>
        </p:nvSpPr>
        <p:spPr>
          <a:xfrm>
            <a:off x="3291840" y="1280160"/>
            <a:ext cx="2560320" cy="25603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291840" y="128016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/>
              <a:t>Interactive Teach Custom Sign Studio</a:t>
            </a:r>
            <a:endParaRPr lang="en-US" sz="1600" dirty="0"/>
          </a:p>
          <a:p>
            <a:pPr marL="0" indent="0" algn="ctr">
              <a:buNone/>
            </a:pPr>
            <a:r>
              <a:rPr sz="900" b="0"/>
              <a:t>• 10-shot interactive gesture recording wizard</a:t>
            </a:r>
            <a:br/>
            <a:r>
              <a:rPr sz="900" b="0"/>
              <a:t>• Automated 3-second preparation countdown &amp; progress bar</a:t>
            </a:r>
            <a:br/>
            <a:r>
              <a:rPr sz="900" b="0"/>
              <a:t>• Real-time frame validation (rejects frames without hands)</a:t>
            </a:r>
            <a:br/>
            <a:r>
              <a:rPr sz="900" b="0"/>
              <a:t>• Submission for admin review or instant background transfer learning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Screen 2: Continual Learning Studio</a:t>
            </a:r>
            <a:endParaRPr lang="en-US" sz="1400" dirty="0"/>
          </a:p>
        </p:txBody>
      </p:sp>
      <p:sp>
        <p:nvSpPr>
          <p:cNvPr id="9" name="placeholder-frame"/>
          <p:cNvSpPr/>
          <p:nvPr/>
        </p:nvSpPr>
        <p:spPr>
          <a:xfrm>
            <a:off x="6126480" y="1280160"/>
            <a:ext cx="2560320" cy="25603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126480" y="128016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/>
              <a:t>3D Avatar &amp; History Analytics</a:t>
            </a:r>
            <a:endParaRPr lang="en-US" sz="1600" dirty="0"/>
          </a:p>
          <a:p>
            <a:pPr marL="0" indent="0" algn="ctr">
              <a:buNone/>
            </a:pPr>
            <a:r>
              <a:rPr sz="900" b="0"/>
              <a:t>• Interactive Three.js 3D rigged hand model showing joint angles</a:t>
            </a:r>
            <a:br/>
            <a:r>
              <a:rPr sz="900" b="0"/>
              <a:t>• 26 ASL alphabet visual guide with finger curl values</a:t>
            </a:r>
            <a:br/>
            <a:r>
              <a:rPr sz="900" b="0"/>
              <a:t>• Comprehensive prediction history table with search &amp; filtering</a:t>
            </a:r>
            <a:br/>
            <a:r>
              <a:rPr sz="900" b="0"/>
              <a:t>• Neon Cloud Database synchronization status indicator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Screen 3: 3D Hand Model &amp; Analytics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 &amp; Performance Analysis</a:t>
            </a:r>
            <a:endParaRPr lang="en-US" sz="3200" dirty="0"/>
          </a:p>
        </p:txBody>
      </p:sp>
      <p:graphicFrame>
        <p:nvGraphicFramePr>
          <p:cNvPr id="3" name="results-chart"/>
          <p:cNvGraphicFramePr/>
          <p:nvPr/>
        </p:nvGraphicFramePr>
        <p:xfrm>
          <a:off x="457200" y="128016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"/>
          <p:cNvSpPr/>
          <p:nvPr/>
        </p:nvSpPr>
        <p:spPr>
          <a:xfrm>
            <a:off x="5760720" y="1280160"/>
            <a:ext cx="2926080" cy="32918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Key Observations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9659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Superior Alphabet Accuracy: Dense MLP achieves 98.2% test accuracy on ASL letters with 0.8ms inference latency.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Robust Spatiotemporal Word Modeling: Conv1D-GRU scores 92.4% on complex dynamic sequences, surpassing monolithic baselines by +20.9%.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Exceptional Real-Time Speed: Sustains solid 30 FPS on standard CPUs without GPU hardware acceleration.</a:t>
            </a:r>
            <a:endParaRPr lang="en-US" sz="1400" dirty="0"/>
          </a:p>
          <a:p>
            <a:r>
              <a:rPr sz="1000" b="0"/>
              <a:t>• Rapid Continual Learning: Adds brand-new gestures in ~15 seconds with 0% catastrophic forgetting on previous classes.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Testing &amp; Validation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98.2%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Alphabet Accuracy (92.4% Word)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291840" y="128016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28 ms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Average End-to-End Latency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26480" y="128016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48 / 48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Unit &amp; Integration Tests Passed</a:t>
            </a:r>
            <a:endParaRPr lang="en-US" sz="1400" dirty="0"/>
          </a:p>
        </p:txBody>
      </p:sp>
      <p:sp>
        <p:nvSpPr>
          <p:cNvPr id="12" name="testing-strip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685800" y="3840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/>
              <a:t>Rigorous Testing: Unit (Landmarks &amp; Normalization) | Integration (MoE Routing &amp; Buffer) | System (Live Camera &amp; TTS) | UAT (Deaf Community Trials)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Team Contributions</a:t>
            </a:r>
            <a:endParaRPr lang="en-US" sz="32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14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900" b="1"/>
                        <a:t>Member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Roll No.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Role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Contribution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900" b="0"/>
                        <a:t>Mohit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1CD21CS001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Lead AI &amp; Full-Stack Developer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Engineered MoE router, Conv1D-GRU models, Flask 4-page UI, MediaPipe pipeline, and cloud synchronization.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900" b="0"/>
                        <a:t>Team Member 2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1CD21CS002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ML &amp; Data Engineer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Curated ASL &amp; WLASL datasets, computed 60-D/123-D features, implemented experience replay and model training.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900" b="0"/>
                        <a:t>Team Member 3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1CD21CS003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NLP &amp; Audio Specialist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Integrated 4-tier translation engine, pyttsx3 and Google TTS audio speech synthesis, and 9-language mapping.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900" b="0"/>
                        <a:t>Team Member 4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1CD21CS004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Cloud, DB &amp; QA Engineer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/>
                        <a:t>Configured Neon PostgreSQL database, user authentication &amp; RBAC, automated unit test suites, and documentation.</a:t>
                      </a: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eedback-strip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9776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0"/>
              <a:t>Guide Review Feedback Addressed: Added scale-invariant mathematical formulation, integrated regional Indic language TTS (Kannada/Hindi/Tamil), implemented experience replay to eliminate catastrophic forgetting, and benchmarked against monolithic baselines.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Challenges &amp; Limitations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4937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2801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/>
              <a:t>Hand Distance &amp; Scale Variations</a:t>
            </a:r>
            <a:endParaRPr lang="en-US" sz="1600" dirty="0"/>
          </a:p>
          <a:p>
            <a:pPr marL="0" indent="0">
              <a:buNone/>
            </a:pPr>
            <a:r>
              <a:rPr sz="900" b="0"/>
              <a:t>Resolved by formulating L2-normalized wrist-relative landmark coordinates, making gestures invariant to user distance and hand size.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457200" y="2423160"/>
            <a:ext cx="4937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685800" y="26974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4231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/>
              <a:t>Catastrophic Forgetting in Transfer Learning</a:t>
            </a:r>
            <a:endParaRPr lang="en-US" sz="1600" dirty="0"/>
          </a:p>
          <a:p>
            <a:pPr marL="0" indent="0">
              <a:buNone/>
            </a:pPr>
            <a:r>
              <a:rPr sz="900" b="0"/>
              <a:t>Solved via dual-strategy: freezing base feature extractors and interleaving historical replay samples (max 15/class) during fine-tuning.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57200" y="3566160"/>
            <a:ext cx="4937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685800" y="38404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5661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/>
              <a:t>Output Flickering &amp; Boundary Jitter</a:t>
            </a:r>
            <a:endParaRPr lang="en-US" sz="1600" dirty="0"/>
          </a:p>
          <a:p>
            <a:pPr marL="0" indent="0">
              <a:buNone/>
            </a:pPr>
            <a:r>
              <a:rPr sz="900" b="0"/>
              <a:t>Implemented asymmetric stability filters (3-frame for static alphabet, 2-frame for dynamic words) with 70% confidence cutoff.</a:t>
            </a:r>
            <a:endParaRPr lang="en-US" sz="1600" dirty="0"/>
          </a:p>
        </p:txBody>
      </p:sp>
      <p:sp>
        <p:nvSpPr>
          <p:cNvPr id="15" name="limits-card"/>
          <p:cNvSpPr/>
          <p:nvPr/>
        </p:nvSpPr>
        <p:spPr>
          <a:xfrm>
            <a:off x="5669280" y="1280160"/>
            <a:ext cx="3017520" cy="3291840"/>
          </a:xfrm>
          <a:prstGeom prst="roundRect">
            <a:avLst>
              <a:gd name="adj" fmla="val 242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978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19659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Lighting Sensitivity: Severe underexposure or direct backlighting impairs MediaPipe palm detection.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Facial Expressions &amp; Non-Manual Signals: Current scope tracks hand kinematics; facial grammar is not yet captured.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Vocabulary Scope: Currently optimized for 26 alphabets + 100 core words; extensible via runtime studio.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 &amp; Future Scope</a:t>
            </a:r>
            <a:endParaRPr lang="en-US" sz="3200" dirty="0"/>
          </a:p>
        </p:txBody>
      </p:sp>
      <p:sp>
        <p:nvSpPr>
          <p:cNvPr id="3" name="dark-card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Successfully Engineered MoE System: Created an end-to-end assistive translation platform combining Dense MLP and Conv1D-GRU networks with 98.2% / 92.4% accuracy.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Real-Time Multilingual Communication: Delivered sub-35ms pipeline bridging signers with non-signers across 9 languages with immediate audio output.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Practical Continual Learning: Proved zero-downtime gesture expansion in ~15 seconds without losing previous knowledge.</a:t>
            </a:r>
            <a:endParaRPr lang="en-US" sz="1400" dirty="0"/>
          </a:p>
        </p:txBody>
      </p:sp>
      <p:sp>
        <p:nvSpPr>
          <p:cNvPr id="6" name="dark-card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Holistic Non-Manual Multimodal Tracking: Integrate MediaPipe Holistic for facial sentiment, mouthings, and shoulder posture.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Continuous Sentence Construction &amp; Grammar NLP: Implement LLM/Transformer-based gloss-to-sentence grammatical reordering.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000" b="0"/>
              <a:t>• Mobile Edge Deployment: Export optimized models to TFLite and ONNX for native Android and iOS mobile app deployment.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Applications &amp; Societal Impact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8580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Applications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603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Healthcare &amp; Hospitals: Facilitates accurate patient-doctor consultations without needing human sign interpreters on-site.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Banking, Public Offices &amp; Desks: Enables seamless government services, public transit, and retail checkouts.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Inclusive Education Classrooms: Real-time classroom lecture transcription and bidirectional peer engagement.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28016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352044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Impact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5603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Social Inclusivity: Empowers deaf and mute citizens with independent communication and career opportunities.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Regional Linguistic Empowerment: Direct support for Indian languages (Kannada, Hindi, Tamil, Telugu, Malayalam) bridges linguistic divides.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High Dignity of Life: Reduces daily dependence on human intermediaries in sensitive and private affairs.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26480" y="128016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35508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Deployment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5603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Zero Specialized Hardware: Functions on everyday laptops, tablets, or smartphones with standard webcams.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Cloud-Ready Architecture: Lightweight CPU footprint ensures extremely low server and operational hosting costs.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Commercial Accessibility: Readily packageable into enterprise kiosk software or web-meeting plugins.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Learning Outcomes &amp; Deliverables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Learning Outcomes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Deep Learning &amp; Kinematic CV: Advanced proficiency in MediaPipe landmark tracking, spatiotemporal Conv1D-GRU networks, and MoE routing.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Full-Stack Architecture: Mastery of Flask, client-side streaming, Three.js 3D web graphics, and responsive UI design.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Database &amp; Cloud Engineering: Hands-on implementation of Neon Serverless PostgreSQL, connection pooling, and live model synchronization.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Production ML Engineering: Practical experience with continual transfer learning, experience replay buffers, and zero-downtime hot reloading.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Deliverables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Comprehensive Final Major Project Technical Report &amp; IEEE Conference Paper Draft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Complete Production Source Code Repository with documentation and setup scripts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Fully Operational Web Application Prototype (Live Inference, Teach Studio, 3D Avatar, Analytics)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900" b="0"/>
              <a:t>• Pre-trained Expert Weights (alphabet_expert.h5, word_expert.h5, encoders, SQLite/Neon databases)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822960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7680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sz="900" b="0"/>
              <a:t>[1] C. Lugaresi et al., "MediaPipe: A Framework for Building Perception Pipelines," arXiv preprint arXiv:1906.08172, 2019.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sz="900" b="0"/>
              <a:t>[2] D. Li et al., "Word-level Deep Sign Language Recognition from Video: A New Benchmark (WLASL)," Proc. IEEE/CVF WACV, pp. 1661-1670, 2020.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sz="900" b="0"/>
              <a:t>[3] N. Shazeer et al., "Outrageously Large Neural Networks: The Sparsely-Gated Mixture-of-Experts Layer," Proc. ICLR, 2017.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sz="900" b="0"/>
              <a:t>[4] M. A. Rahaman et al., "Real-time Sign Language Recognition using Deep Learning and Computer Vision: A Comprehensive Review," IEEE Access, vol. 10, pp. 44120-44145, 2022.</a:t>
            </a:r>
            <a:endParaRPr lang="en-US" sz="1400" dirty="0"/>
          </a:p>
          <a:p>
            <a:r>
              <a:rPr sz="900" b="0"/>
              <a:t>[5] G. French and M. Mackiewicz, "Continual Learning and Catastrophic Forgetting in Neural Networks: A Survey," Neural Networks, vol. 113, pp. 54-67, 2019.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309360" y="640080"/>
            <a:ext cx="2377440" cy="2377440"/>
          </a:xfrm>
          <a:prstGeom prst="ellipse">
            <a:avLst/>
          </a:prstGeom>
          <a:solidFill>
            <a:schemeClr val="accent2">
              <a:alpha val="7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" name="motif"/>
          <p:cNvSpPr/>
          <p:nvPr/>
        </p:nvSpPr>
        <p:spPr>
          <a:xfrm>
            <a:off x="7223760" y="2103120"/>
            <a:ext cx="1737360" cy="1737360"/>
          </a:xfrm>
          <a:prstGeom prst="ellipse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motif"/>
          <p:cNvSpPr/>
          <p:nvPr/>
        </p:nvSpPr>
        <p:spPr>
          <a:xfrm>
            <a:off x="5852160" y="3017520"/>
            <a:ext cx="1371600" cy="1371600"/>
          </a:xfrm>
          <a:prstGeom prst="ellipse">
            <a:avLst/>
          </a:prstGeom>
          <a:solidFill>
            <a:schemeClr val="accent2">
              <a:alpha val="4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1"/>
          <p:cNvSpPr>
            <a:spLocks noGrp="1"/>
          </p:cNvSpPr>
          <p:nvPr>
            <p:ph type="title" idx="101"/>
          </p:nvPr>
        </p:nvSpPr>
        <p:spPr>
          <a:xfrm>
            <a:off x="548640" y="109728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6" name="Text 1"/>
          <p:cNvSpPr>
            <a:spLocks noGrp="1"/>
          </p:cNvSpPr>
          <p:nvPr>
            <p:ph type="body" idx="102"/>
          </p:nvPr>
        </p:nvSpPr>
        <p:spPr>
          <a:xfrm>
            <a:off x="548640" y="2788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5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7" name="Text 1"/>
          <p:cNvSpPr>
            <a:spLocks noGrp="1"/>
          </p:cNvSpPr>
          <p:nvPr>
            <p:ph type="body" idx="103"/>
          </p:nvPr>
        </p:nvSpPr>
        <p:spPr>
          <a:xfrm>
            <a:off x="548640" y="34747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200" b="0"/>
              <a:t>Mohit &amp; Project Team  |  Dept. of CSE, CITNC Bengaluru  |  GitHub: Anti_major_1</a:t>
            </a:r>
            <a:endParaRPr lang="en-US" sz="1400" dirty="0"/>
          </a:p>
        </p:txBody>
      </p:sp>
      <p:pic>
        <p:nvPicPr>
          <p:cNvPr id="3074" name="Picture 2" descr="C:\Users\Dell\Downloads\Cambridge Institute Thank You Slid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33425" y="-415925"/>
            <a:ext cx="10610850" cy="597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ject Review">
  <a:themeElements>
    <a:clrScheme name="Project Review">
      <a:dk1>
        <a:srgbClr val="1B1F3B"/>
      </a:dk1>
      <a:lt1>
        <a:srgbClr val="FFFFFF"/>
      </a:lt1>
      <a:dk2>
        <a:srgbClr val="1E2761"/>
      </a:dk2>
      <a:lt2>
        <a:srgbClr val="EEF2FA"/>
      </a:lt2>
      <a:accent1>
        <a:srgbClr val="1E2761"/>
      </a:accent1>
      <a:accent2>
        <a:srgbClr val="0E8C99"/>
      </a:accent2>
      <a:accent3>
        <a:srgbClr val="F2A541"/>
      </a:accent3>
      <a:accent4>
        <a:srgbClr val="5B6785"/>
      </a:accent4>
      <a:accent5>
        <a:srgbClr val="CADCFC"/>
      </a:accent5>
      <a:accent6>
        <a:srgbClr val="E4572E"/>
      </a:accent6>
      <a:hlink>
        <a:srgbClr val="0E8C99"/>
      </a:hlink>
      <a:folHlink>
        <a:srgbClr val="5B6785"/>
      </a:folHlink>
    </a:clrScheme>
    <a:fontScheme name="Project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4016</Words>
  <Application>Microsoft Office PowerPoint</Application>
  <PresentationFormat>On-screen Show (16:9)</PresentationFormat>
  <Paragraphs>399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Project Review</vt:lpstr>
      <vt:lpstr>Multilingual Real-Time Sign Language Translator</vt:lpstr>
      <vt:lpstr>Contents</vt:lpstr>
      <vt:lpstr>Project Details</vt:lpstr>
      <vt:lpstr>Agenda</vt:lpstr>
      <vt:lpstr>Abstract &amp; Introduction</vt:lpstr>
      <vt:lpstr>Problem Statement &amp; Objectives</vt:lpstr>
      <vt:lpstr>Literature Survey</vt:lpstr>
      <vt:lpstr>Existing System vs Proposed Solution</vt:lpstr>
      <vt:lpstr>Requirement Analysis</vt:lpstr>
      <vt:lpstr>Methodology &amp; Workflow</vt:lpstr>
      <vt:lpstr>System Architecture</vt:lpstr>
      <vt:lpstr>Design Diagrams</vt:lpstr>
      <vt:lpstr>Algorithm &amp; Core Logic</vt:lpstr>
      <vt:lpstr>Implementation Modules</vt:lpstr>
      <vt:lpstr>Output Screens / Demo</vt:lpstr>
      <vt:lpstr>Results &amp; Performance Analysis</vt:lpstr>
      <vt:lpstr>Testing &amp; Validation</vt:lpstr>
      <vt:lpstr>Team Contributions</vt:lpstr>
      <vt:lpstr>Challenges &amp; Limitations</vt:lpstr>
      <vt:lpstr>Conclusion &amp; Future Scope</vt:lpstr>
      <vt:lpstr>Applications &amp; Societal Impact</vt:lpstr>
      <vt:lpstr>Learning Outcomes &amp; Deliverables</vt:lpstr>
      <vt:lpstr>References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Major Project Final Review</dc:title>
  <dc:subject>PptxGenJS Presentation</dc:subject>
  <dc:creator>PptxGenJS</dc:creator>
  <cp:lastModifiedBy>MOHITH RAJ</cp:lastModifiedBy>
  <cp:revision>4</cp:revision>
  <dcterms:created xsi:type="dcterms:W3CDTF">2026-10-06T05:07:36Z</dcterms:created>
  <dcterms:modified xsi:type="dcterms:W3CDTF">2026-10-18T13:51:50Z</dcterms:modified>
</cp:coreProperties>
</file>