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Topic: Multilingual Real-Time Sign Language Translator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Mixture-of-Experts (MoE) Architecture for Real-Time Gesture Recognition &amp;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1F5F9"/>
                </a:solidFill>
              </a:defRPr>
            </a:pPr>
            <a:r>
              <a:t>Under the guidance of:  Dr. Prabha Seetaram Naik (Associate Professor &amp; HOD, Dept. of CSE(DS))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Under the Co-guidance of:  Prof. Bhagya M (Assistant Professor)</a:t>
            </a:r>
          </a:p>
          <a:p>
            <a:br/>
            <a:pPr>
              <a:defRPr b="1" sz="1600">
                <a:solidFill>
                  <a:srgbClr val="38BDF8"/>
                </a:solidFill>
              </a:defRPr>
            </a:pPr>
            <a:r>
              <a:t>Team Members (Dept. of Computer Science and Engineering, CITNC):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   • Lekhana N (1AJ23CS069)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   • Mohith Raj N (1AJ23CS082)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   • Pragathi N (1AJ23CS105)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   • Shohith Kumar K (1AJ23CS138)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A192F"/>
                </a:solidFill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800"/>
              </a:spcAft>
              <a:defRPr sz="2200">
                <a:solidFill>
                  <a:srgbClr val="1E293B"/>
                </a:solidFill>
              </a:defRPr>
            </a:pPr>
            <a:r>
              <a:t>❖  Previous Review Feedback</a:t>
            </a:r>
          </a:p>
          <a:p>
            <a:pPr>
              <a:spcAft>
                <a:spcPts val="2800"/>
              </a:spcAft>
              <a:defRPr sz="2200">
                <a:solidFill>
                  <a:srgbClr val="1E293B"/>
                </a:solidFill>
              </a:defRPr>
            </a:pPr>
            <a:r>
              <a:t>❖  System Design (Data Flow Diagram &amp; SQLite Data Schema)</a:t>
            </a:r>
          </a:p>
          <a:p>
            <a:pPr>
              <a:spcAft>
                <a:spcPts val="2800"/>
              </a:spcAft>
              <a:defRPr sz="2200">
                <a:solidFill>
                  <a:srgbClr val="1E293B"/>
                </a:solidFill>
              </a:defRPr>
            </a:pPr>
            <a:r>
              <a:t>❖  System Architecture (Modular Mixture-of-Experts Architecture)</a:t>
            </a:r>
          </a:p>
          <a:p>
            <a:pPr>
              <a:spcAft>
                <a:spcPts val="2800"/>
              </a:spcAft>
              <a:defRPr sz="2200">
                <a:solidFill>
                  <a:srgbClr val="1E293B"/>
                </a:solidFill>
              </a:defRPr>
            </a:pPr>
            <a:r>
              <a:t>❖  Methodology &amp; Implementation Pipeline (8-Step Execution &amp; Continual Learning)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A192F"/>
                </a:solidFill>
              </a:defRPr>
            </a:pPr>
            <a:r>
              <a:t>Previous Review Feedback &amp; Project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1D4ED8"/>
                </a:solidFill>
              </a:defRPr>
            </a:pPr>
            <a:r>
              <a:t>Title: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Multilingual Real-Time Sign Language Translator</a:t>
            </a:r>
          </a:p>
          <a:p>
            <a:pPr>
              <a:defRPr b="1" sz="1800">
                <a:solidFill>
                  <a:srgbClr val="1D4ED8"/>
                </a:solidFill>
              </a:defRPr>
            </a:pPr>
            <a:r>
              <a:t>Problem Definition: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Communication between sign language users and non-signers is difficult due to language barriers and limited real-time translation tools.</a:t>
            </a:r>
          </a:p>
          <a:p>
            <a:pPr>
              <a:defRPr b="1" sz="1800">
                <a:solidFill>
                  <a:srgbClr val="1D4ED8"/>
                </a:solidFill>
              </a:defRPr>
            </a:pPr>
            <a:r>
              <a:t>Proposed Solution: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Develop a real-time system utilizing a Hierarchical Mixture-of-Experts (MoE) deep learning architecture that recognizes static letters (A-Z) and dynamic word gestures, translating them into text and speech in multiple languages.</a:t>
            </a:r>
          </a:p>
          <a:p>
            <a:pPr>
              <a:defRPr b="1" sz="1800">
                <a:solidFill>
                  <a:srgbClr val="1D4ED8"/>
                </a:solidFill>
              </a:defRPr>
            </a:pPr>
            <a:r>
              <a:t>Objectives: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Recognize sign language gestures accurately in real time with an MoE router (0/1/2 hands).</a:t>
            </a:r>
            <a:br/>
            <a:r>
              <a:t>• Translate recognized signs into multiple target languages (Kannada, Hindi, Tamil, Telugu, etc.) with 0ms cache lookup.</a:t>
            </a:r>
            <a:br/>
            <a:r>
              <a:t>• Provide synchronized text overlay and audio speech (TTS) output.</a:t>
            </a:r>
            <a:br/>
            <a:r>
              <a:t>• Support live continual learning to extend the dictionary with custom gestures without full retraining.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A192F"/>
                </a:solidFill>
              </a:defRPr>
            </a:pPr>
            <a:r>
              <a:t>System Design</a:t>
            </a:r>
          </a:p>
        </p:txBody>
      </p:sp>
      <p:pic>
        <p:nvPicPr>
          <p:cNvPr id="3" name="Picture 2" descr="system_desig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4552" cy="63109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A192F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4552" cy="63109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A192F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Step 1: Data Collection &amp; Input — Collect static images (Kaggle ASL A-Z) and dynamic video sequences (WLASL word dataset) via webcam.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Step 2: Hand Landmark Tracking — Detect 21 3D hand landmark coordinates per hand using MediaPipe HandLandmarker (supports dual hands).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Step 3: Feature Engineering — Extract 60-D wrist-relative normalized features for single hand, and 123-D features for dual hands across 30 frames.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Step 4: MoE Routing &amp; Gesture Recognition — Route single-hand features to Alphabet Expert (Dense MLP) and dual-hand features to Word Expert (Conv1D + GRU).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Step 5: Stability Filtering &amp; Sentence Assembly — Apply a 5-frame consecutive stability filter to prevent flicker and assemble recognized gestures into sentences.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Step 6: Multilingual Translation &amp; Audio TTS — Translate recognized text into selected target languages using deep-translator with SQLite cache lookup (0ms repeat latency) &amp; pyttsx3 TTS.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Step 7: Continual / Transfer Learning — Record 10 custom gesture samples live in the GUI Teach Tab, freeze Conv1D+GRU backbone, fine-tune dense head, and hot-reload model.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Step 8: Output &amp; Persistence — Display real-time visual overlay, play speech output, and persist recognition history and logs in SQLite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A192F"/>
                </a:solidFill>
              </a:defRPr>
            </a:pPr>
            <a:r>
              <a:t>Methodology &amp; Implementation Pipeline</a:t>
            </a:r>
          </a:p>
        </p:txBody>
      </p:sp>
      <p:pic>
        <p:nvPicPr>
          <p:cNvPr id="3" name="Picture 2" descr="methodology_implement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4552" cy="65412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